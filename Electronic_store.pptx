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
  </p:notesMasterIdLst>
  <p:sldIdLst>
    <p:sldId id="267" r:id="rId2"/>
    <p:sldId id="262" r:id="rId3"/>
    <p:sldId id="263" r:id="rId4"/>
    <p:sldId id="258" r:id="rId5"/>
    <p:sldId id="259" r:id="rId6"/>
    <p:sldId id="260" r:id="rId7"/>
    <p:sldId id="261"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72" d="100"/>
          <a:sy n="72" d="100"/>
        </p:scale>
        <p:origin x="202" y="6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89BDEF-C561-4240-A772-76C2D34FD6CB}" type="datetimeFigureOut">
              <a:rPr lang="en-US" smtClean="0"/>
              <a:t>7/1/2025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C6DF8D-3CBC-4C2B-8B7A-57166A022F94}" type="slidenum">
              <a:rPr lang="en-US" smtClean="0"/>
              <a:t>‹#›</a:t>
            </a:fld>
            <a:endParaRPr lang="en-US"/>
          </a:p>
        </p:txBody>
      </p:sp>
    </p:spTree>
    <p:extLst>
      <p:ext uri="{BB962C8B-B14F-4D97-AF65-F5344CB8AC3E}">
        <p14:creationId xmlns:p14="http://schemas.microsoft.com/office/powerpoint/2010/main" val="4057049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pieChart</a:t>
            </a:r>
            <a:endParaRPr dirty="0"/>
          </a:p>
          <a:p>
            <a:r>
              <a:rPr b="0" dirty="0"/>
              <a:t>No alt text provided</a:t>
            </a:r>
            <a:endParaRPr dirty="0"/>
          </a:p>
          <a:p>
            <a:endParaRPr dirty="0"/>
          </a:p>
          <a:p>
            <a:r>
              <a:rPr b="1" dirty="0"/>
              <a:t>map</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treemap</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map</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multiRowCard</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7/1/2025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7/1/2025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7/1/2025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7/1/2025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A9956E-148F-E464-1C71-954198E08B4C}"/>
              </a:ext>
            </a:extLst>
          </p:cNvPr>
          <p:cNvSpPr txBox="1"/>
          <p:nvPr/>
        </p:nvSpPr>
        <p:spPr>
          <a:xfrm>
            <a:off x="689344" y="2459504"/>
            <a:ext cx="10813312" cy="1938992"/>
          </a:xfrm>
          <a:prstGeom prst="rect">
            <a:avLst/>
          </a:prstGeom>
          <a:noFill/>
        </p:spPr>
        <p:txBody>
          <a:bodyPr wrap="square" rtlCol="0">
            <a:spAutoFit/>
          </a:bodyPr>
          <a:lstStyle/>
          <a:p>
            <a:pPr algn="ctr"/>
            <a:r>
              <a:rPr lang="en-US" sz="6000" dirty="0"/>
              <a:t>Name : Pratham Vinod Jain </a:t>
            </a:r>
          </a:p>
          <a:p>
            <a:pPr algn="ctr"/>
            <a:r>
              <a:rPr lang="en-US" sz="6000" dirty="0"/>
              <a:t>Dataset Name : Electronic Store </a:t>
            </a:r>
          </a:p>
        </p:txBody>
      </p:sp>
    </p:spTree>
    <p:extLst>
      <p:ext uri="{BB962C8B-B14F-4D97-AF65-F5344CB8AC3E}">
        <p14:creationId xmlns:p14="http://schemas.microsoft.com/office/powerpoint/2010/main" val="624146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69CCF-5DCF-F907-472B-D25FE72693F4}"/>
              </a:ext>
            </a:extLst>
          </p:cNvPr>
          <p:cNvSpPr>
            <a:spLocks noGrp="1"/>
          </p:cNvSpPr>
          <p:nvPr>
            <p:ph type="ctrTitle"/>
          </p:nvPr>
        </p:nvSpPr>
        <p:spPr>
          <a:xfrm>
            <a:off x="1343247" y="808074"/>
            <a:ext cx="9144000" cy="1170800"/>
          </a:xfrm>
        </p:spPr>
        <p:txBody>
          <a:bodyPr/>
          <a:lstStyle/>
          <a:p>
            <a:r>
              <a:rPr lang="en-US" dirty="0"/>
              <a:t>Why ?Analysis</a:t>
            </a:r>
          </a:p>
        </p:txBody>
      </p:sp>
      <p:sp>
        <p:nvSpPr>
          <p:cNvPr id="3" name="Subtitle 2">
            <a:extLst>
              <a:ext uri="{FF2B5EF4-FFF2-40B4-BE49-F238E27FC236}">
                <a16:creationId xmlns:a16="http://schemas.microsoft.com/office/drawing/2014/main" id="{E805D53F-A265-BBE8-3802-4B95FB366820}"/>
              </a:ext>
            </a:extLst>
          </p:cNvPr>
          <p:cNvSpPr>
            <a:spLocks noGrp="1"/>
          </p:cNvSpPr>
          <p:nvPr>
            <p:ph type="subTitle" idx="1"/>
          </p:nvPr>
        </p:nvSpPr>
        <p:spPr>
          <a:xfrm>
            <a:off x="1343247" y="2134744"/>
            <a:ext cx="9565758" cy="3915181"/>
          </a:xfrm>
        </p:spPr>
        <p:txBody>
          <a:bodyPr>
            <a:normAutofit fontScale="92500" lnSpcReduction="20000"/>
          </a:bodyPr>
          <a:lstStyle/>
          <a:p>
            <a:r>
              <a:rPr lang="en-US" dirty="0"/>
              <a:t>The electronic retail business is experiencing uneven sales performance across different regions, gender groups, and product categories, with a noticeable decline in sales over time. To Create a strong customer base and wide product variety, the company lacks clear visibility into which customer segments, products, and store locations are truly driving profitability. Additionally, underutilized regions and products may be limiting growth potential.</a:t>
            </a:r>
          </a:p>
          <a:p>
            <a:pPr algn="l"/>
            <a:r>
              <a:rPr lang="en-US" dirty="0"/>
              <a:t>Therefore, a comprehensive data-driven analysis is required to:</a:t>
            </a:r>
          </a:p>
          <a:p>
            <a:pPr algn="l">
              <a:buFont typeface="Arial" panose="020B0604020202020204" pitchFamily="34" charset="0"/>
              <a:buChar char="•"/>
            </a:pPr>
            <a:r>
              <a:rPr lang="en-US" dirty="0"/>
              <a:t>Identify top-performing and underperforming products, stores, and customer segments.</a:t>
            </a:r>
          </a:p>
          <a:p>
            <a:pPr algn="l">
              <a:buFont typeface="Arial" panose="020B0604020202020204" pitchFamily="34" charset="0"/>
              <a:buChar char="•"/>
            </a:pPr>
            <a:r>
              <a:rPr lang="en-US" dirty="0"/>
              <a:t>Track sales trends over time to detect potential revenue drops.</a:t>
            </a:r>
          </a:p>
          <a:p>
            <a:pPr algn="l">
              <a:buFont typeface="Arial" panose="020B0604020202020204" pitchFamily="34" charset="0"/>
              <a:buChar char="•"/>
            </a:pPr>
            <a:r>
              <a:rPr lang="en-US" dirty="0"/>
              <a:t>Improve targeted marketing and inventory planning.</a:t>
            </a:r>
          </a:p>
          <a:p>
            <a:pPr algn="l">
              <a:buFont typeface="Arial" panose="020B0604020202020204" pitchFamily="34" charset="0"/>
              <a:buChar char="•"/>
            </a:pPr>
            <a:r>
              <a:rPr lang="en-US" dirty="0"/>
              <a:t>Enable strategic decisions for expanding into untapped markets and optimizing store performance.</a:t>
            </a:r>
          </a:p>
        </p:txBody>
      </p:sp>
    </p:spTree>
    <p:extLst>
      <p:ext uri="{BB962C8B-B14F-4D97-AF65-F5344CB8AC3E}">
        <p14:creationId xmlns:p14="http://schemas.microsoft.com/office/powerpoint/2010/main" val="3917454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69CCF-5DCF-F907-472B-D25FE72693F4}"/>
              </a:ext>
            </a:extLst>
          </p:cNvPr>
          <p:cNvSpPr>
            <a:spLocks noGrp="1"/>
          </p:cNvSpPr>
          <p:nvPr>
            <p:ph type="ctrTitle"/>
          </p:nvPr>
        </p:nvSpPr>
        <p:spPr>
          <a:xfrm>
            <a:off x="1311349" y="261125"/>
            <a:ext cx="9023498" cy="1312493"/>
          </a:xfrm>
        </p:spPr>
        <p:txBody>
          <a:bodyPr/>
          <a:lstStyle/>
          <a:p>
            <a:r>
              <a:rPr lang="en-US" b="1" dirty="0"/>
              <a:t>How ? Analysis</a:t>
            </a:r>
          </a:p>
        </p:txBody>
      </p:sp>
      <p:sp>
        <p:nvSpPr>
          <p:cNvPr id="6" name="Rectangle 3">
            <a:extLst>
              <a:ext uri="{FF2B5EF4-FFF2-40B4-BE49-F238E27FC236}">
                <a16:creationId xmlns:a16="http://schemas.microsoft.com/office/drawing/2014/main" id="{2634AE78-C10C-BB4A-3265-0062B9C5D467}"/>
              </a:ext>
            </a:extLst>
          </p:cNvPr>
          <p:cNvSpPr>
            <a:spLocks noGrp="1" noChangeArrowheads="1"/>
          </p:cNvSpPr>
          <p:nvPr>
            <p:ph type="subTitle" idx="1"/>
          </p:nvPr>
        </p:nvSpPr>
        <p:spPr bwMode="auto">
          <a:xfrm>
            <a:off x="1311349" y="1569404"/>
            <a:ext cx="902349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Collection: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Dataset Downloaded From Kaggle.com and imported in MYSQL From .csv file and Loaded in Power Bi Desktop From MYSQL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Explanation: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dataset appears to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Product details (category, subcategory, brand)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Sales performance (sales amount, units sold)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Customer-related metrics</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Arial" panose="020B0604020202020204" pitchFamily="34" charset="0"/>
              </a:rPr>
              <a:t> Data is from July 2016 to September 2020</a:t>
            </a:r>
            <a:r>
              <a:rPr kumimoji="0" lang="en-US" altLang="en-US" sz="1800" b="0" i="0" u="none" strike="noStrike" cap="none" normalizeH="0" baseline="0" dirty="0">
                <a:ln>
                  <a:noFill/>
                </a:ln>
                <a:solidFill>
                  <a:schemeClr val="tx1"/>
                </a:solidFill>
                <a:effectLst/>
                <a:latin typeface="Arial" panose="020B0604020202020204" pitchFamily="34" charset="0"/>
              </a:rPr>
              <a:t>(date, month, year)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Dataset Overview:</a:t>
            </a:r>
          </a:p>
          <a:p>
            <a:pPr marR="0" lvl="0" algn="l" defTabSz="914400" rtl="0" eaLnBrk="0" fontAlgn="base" latinLnBrk="0" hangingPunct="0">
              <a:lnSpc>
                <a:spcPct val="100000"/>
              </a:lnSpc>
              <a:spcBef>
                <a:spcPct val="0"/>
              </a:spcBef>
              <a:spcAft>
                <a:spcPct val="0"/>
              </a:spcAft>
              <a:buClrTx/>
              <a:buSzTx/>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    Tables: 5 (e.g., Products, Sales, Calendar, Customers, Store)</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Rows: </a:t>
            </a:r>
            <a:r>
              <a:rPr kumimoji="0" lang="en-US" altLang="en-US" sz="1800" b="0" i="0" u="none" strike="noStrike" cap="none" normalizeH="0" baseline="0" dirty="0" err="1">
                <a:ln>
                  <a:noFill/>
                </a:ln>
                <a:solidFill>
                  <a:schemeClr val="tx1"/>
                </a:solidFill>
                <a:effectLst/>
                <a:latin typeface="Arial" panose="020B0604020202020204" pitchFamily="34" charset="0"/>
              </a:rPr>
              <a:t>Calender</a:t>
            </a:r>
            <a:r>
              <a:rPr kumimoji="0" lang="en-US" altLang="en-US" sz="1800" b="0" i="0" u="none" strike="noStrike" cap="none" normalizeH="0" baseline="0" dirty="0">
                <a:ln>
                  <a:noFill/>
                </a:ln>
                <a:solidFill>
                  <a:schemeClr val="tx1"/>
                </a:solidFill>
                <a:effectLst/>
                <a:latin typeface="Arial" panose="020B0604020202020204" pitchFamily="34" charset="0"/>
              </a:rPr>
              <a:t> (1714 rows),Customers (11036 rows), </a:t>
            </a:r>
            <a:r>
              <a:rPr kumimoji="0" lang="en-US" altLang="en-US" sz="1800" b="0" i="0" u="none" strike="noStrike" cap="none" normalizeH="0" baseline="0" dirty="0" err="1">
                <a:ln>
                  <a:noFill/>
                </a:ln>
                <a:solidFill>
                  <a:schemeClr val="tx1"/>
                </a:solidFill>
                <a:effectLst/>
                <a:latin typeface="Arial" panose="020B0604020202020204" pitchFamily="34" charset="0"/>
              </a:rPr>
              <a:t>exchange_rates</a:t>
            </a:r>
            <a:r>
              <a:rPr kumimoji="0" lang="en-US" altLang="en-US" sz="1800" b="0" i="0" u="none" strike="noStrike" cap="none" normalizeH="0" baseline="0" dirty="0">
                <a:ln>
                  <a:noFill/>
                </a:ln>
                <a:solidFill>
                  <a:schemeClr val="tx1"/>
                </a:solidFill>
                <a:effectLst/>
                <a:latin typeface="Arial" panose="020B0604020202020204" pitchFamily="34" charset="0"/>
              </a:rPr>
              <a:t>       (11215 rows),products (2517 rows ),sales (62884 rows) , stores (66 rows).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Key columns: </a:t>
            </a:r>
            <a:r>
              <a:rPr kumimoji="0" lang="en-US" altLang="en-US" sz="1600" b="0" i="0" u="none" strike="noStrike" cap="none" normalizeH="0" baseline="0" dirty="0">
                <a:ln>
                  <a:noFill/>
                </a:ln>
                <a:solidFill>
                  <a:schemeClr val="tx1"/>
                </a:solidFill>
                <a:effectLst/>
                <a:latin typeface="Arial Unicode MS"/>
              </a:rPr>
              <a:t>Product Name</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Sales Amount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Manufacturer</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Continent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Date</a:t>
            </a:r>
            <a:r>
              <a:rPr kumimoji="0" lang="en-US" altLang="en-US" sz="1600" b="0" i="0" u="none" strike="noStrike" cap="none" normalizeH="0" baseline="0" dirty="0">
                <a:ln>
                  <a:noFill/>
                </a:ln>
                <a:solidFill>
                  <a:schemeClr val="tx1"/>
                </a:solidFill>
                <a:effectLst/>
              </a:rPr>
              <a:t>, etc.</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8230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t>Home</a:t>
            </a:r>
          </a:p>
        </p:txBody>
      </p:sp>
      <p:pic>
        <p:nvPicPr>
          <p:cNvPr id="3" name="Picture 2" descr="A store with many pictures on the shelves">
            <a:extLst>
              <a:ext uri="{FF2B5EF4-FFF2-40B4-BE49-F238E27FC236}">
                <a16:creationId xmlns:a16="http://schemas.microsoft.com/office/drawing/2014/main" id="{CD896FFA-0350-3AB0-77F9-D6B06BFB3931}"/>
              </a:ext>
            </a:extLst>
          </p:cNvPr>
          <p:cNvPicPr>
            <a:picLocks noChangeAspect="1"/>
          </p:cNvPicPr>
          <p:nvPr/>
        </p:nvPicPr>
        <p:blipFill>
          <a:blip r:embed="rId3"/>
          <a:stretch>
            <a:fillRect/>
          </a:stretch>
        </p:blipFill>
        <p:spPr>
          <a:xfrm>
            <a:off x="0" y="-1016"/>
            <a:ext cx="12191999" cy="68600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t>Customer Analysis</a:t>
            </a:r>
          </a:p>
        </p:txBody>
      </p:sp>
      <p:pic>
        <p:nvPicPr>
          <p:cNvPr id="5" name="Picture 4" descr="A screenshot of a computer">
            <a:extLst>
              <a:ext uri="{FF2B5EF4-FFF2-40B4-BE49-F238E27FC236}">
                <a16:creationId xmlns:a16="http://schemas.microsoft.com/office/drawing/2014/main" id="{4E3E1BDF-C04D-A9EC-E7B1-5B8C4248EB1C}"/>
              </a:ext>
            </a:extLst>
          </p:cNvPr>
          <p:cNvPicPr>
            <a:picLocks noChangeAspect="1"/>
          </p:cNvPicPr>
          <p:nvPr/>
        </p:nvPicPr>
        <p:blipFill>
          <a:blip r:embed="rId3"/>
          <a:stretch>
            <a:fillRect/>
          </a:stretch>
        </p:blipFill>
        <p:spPr>
          <a:xfrm>
            <a:off x="44265" y="0"/>
            <a:ext cx="12103469"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t>Product Analysis</a:t>
            </a:r>
          </a:p>
        </p:txBody>
      </p:sp>
      <p:pic>
        <p:nvPicPr>
          <p:cNvPr id="5" name="Picture 4" descr="A screenshot of a computer&#10;&#10;AI-generated content may be incorrect.">
            <a:extLst>
              <a:ext uri="{FF2B5EF4-FFF2-40B4-BE49-F238E27FC236}">
                <a16:creationId xmlns:a16="http://schemas.microsoft.com/office/drawing/2014/main" id="{D9A03E91-9B29-9DB1-6989-80484FD80100}"/>
              </a:ext>
            </a:extLst>
          </p:cNvPr>
          <p:cNvPicPr>
            <a:picLocks noChangeAspect="1"/>
          </p:cNvPicPr>
          <p:nvPr/>
        </p:nvPicPr>
        <p:blipFill>
          <a:blip r:embed="rId3"/>
          <a:stretch>
            <a:fillRect/>
          </a:stretch>
        </p:blipFill>
        <p:spPr>
          <a:xfrm>
            <a:off x="0" y="8156"/>
            <a:ext cx="12192000" cy="68416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hidden="1"/>
          <p:cNvSpPr>
            <a:spLocks noGrp="1"/>
          </p:cNvSpPr>
          <p:nvPr>
            <p:ph type="title"/>
          </p:nvPr>
        </p:nvSpPr>
        <p:spPr/>
        <p:txBody>
          <a:bodyPr/>
          <a:lstStyle/>
          <a:p>
            <a:r>
              <a:t>Store Analysis</a:t>
            </a:r>
          </a:p>
        </p:txBody>
      </p:sp>
      <p:pic>
        <p:nvPicPr>
          <p:cNvPr id="3" name="Picture 2" descr="A screenshot of a computer">
            <a:extLst>
              <a:ext uri="{FF2B5EF4-FFF2-40B4-BE49-F238E27FC236}">
                <a16:creationId xmlns:a16="http://schemas.microsoft.com/office/drawing/2014/main" id="{114556F6-7610-ABC9-8329-8B4ED598C516}"/>
              </a:ext>
            </a:extLst>
          </p:cNvPr>
          <p:cNvPicPr>
            <a:picLocks noChangeAspect="1"/>
          </p:cNvPicPr>
          <p:nvPr/>
        </p:nvPicPr>
        <p:blipFill>
          <a:blip r:embed="rId3"/>
          <a:stretch>
            <a:fillRect/>
          </a:stretch>
        </p:blipFill>
        <p:spPr>
          <a:xfrm>
            <a:off x="0" y="91128"/>
            <a:ext cx="12175174" cy="65861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4A9B0-23B9-C148-B017-743149B8F490}"/>
              </a:ext>
            </a:extLst>
          </p:cNvPr>
          <p:cNvSpPr>
            <a:spLocks noGrp="1"/>
          </p:cNvSpPr>
          <p:nvPr>
            <p:ph type="ctrTitle"/>
          </p:nvPr>
        </p:nvSpPr>
        <p:spPr>
          <a:xfrm>
            <a:off x="1524000" y="1122363"/>
            <a:ext cx="9144000" cy="1040069"/>
          </a:xfrm>
        </p:spPr>
        <p:txBody>
          <a:bodyPr>
            <a:noAutofit/>
          </a:bodyPr>
          <a:lstStyle/>
          <a:p>
            <a:br>
              <a:rPr lang="en-US" sz="4000" dirty="0"/>
            </a:br>
            <a:r>
              <a:rPr lang="en-US" sz="4000" b="1" dirty="0"/>
              <a:t>CONCLUSION :</a:t>
            </a:r>
          </a:p>
        </p:txBody>
      </p:sp>
      <p:sp>
        <p:nvSpPr>
          <p:cNvPr id="3" name="Subtitle 2">
            <a:extLst>
              <a:ext uri="{FF2B5EF4-FFF2-40B4-BE49-F238E27FC236}">
                <a16:creationId xmlns:a16="http://schemas.microsoft.com/office/drawing/2014/main" id="{AE43EA71-D20F-956D-6229-976E4BE89310}"/>
              </a:ext>
            </a:extLst>
          </p:cNvPr>
          <p:cNvSpPr>
            <a:spLocks noGrp="1"/>
          </p:cNvSpPr>
          <p:nvPr>
            <p:ph type="subTitle" idx="1"/>
          </p:nvPr>
        </p:nvSpPr>
        <p:spPr>
          <a:xfrm>
            <a:off x="1524000" y="2162432"/>
            <a:ext cx="9144000" cy="3095368"/>
          </a:xfrm>
        </p:spPr>
        <p:txBody>
          <a:bodyPr>
            <a:normAutofit fontScale="85000" lnSpcReduction="20000"/>
          </a:bodyPr>
          <a:lstStyle/>
          <a:p>
            <a:pPr algn="l">
              <a:buFont typeface="Arial" panose="020B0604020202020204" pitchFamily="34" charset="0"/>
              <a:buChar char="•"/>
            </a:pPr>
            <a:r>
              <a:rPr lang="en-US" dirty="0"/>
              <a:t>Most of the sales come from the United States, but other countries like Germany and Australia can grow more.</a:t>
            </a:r>
          </a:p>
          <a:p>
            <a:pPr algn="l">
              <a:buFont typeface="Arial" panose="020B0604020202020204" pitchFamily="34" charset="0"/>
              <a:buChar char="•"/>
            </a:pPr>
            <a:r>
              <a:rPr lang="en-US" dirty="0"/>
              <a:t>Both male and female customers are buying almost equally.</a:t>
            </a:r>
          </a:p>
          <a:p>
            <a:pPr algn="l">
              <a:buFont typeface="Arial" panose="020B0604020202020204" pitchFamily="34" charset="0"/>
              <a:buChar char="•"/>
            </a:pPr>
            <a:r>
              <a:rPr lang="en-US" dirty="0"/>
              <a:t>The Contoso brand and Audio products are the top performers.</a:t>
            </a:r>
          </a:p>
          <a:p>
            <a:pPr algn="l">
              <a:buFont typeface="Arial" panose="020B0604020202020204" pitchFamily="34" charset="0"/>
              <a:buChar char="•"/>
            </a:pPr>
            <a:r>
              <a:rPr lang="en-US" dirty="0"/>
              <a:t>Even though total sales are high, sales are slowly going down over time, which means we may need to change our sales or marketing plans.</a:t>
            </a:r>
          </a:p>
          <a:p>
            <a:pPr algn="l">
              <a:buFont typeface="Arial" panose="020B0604020202020204" pitchFamily="34" charset="0"/>
              <a:buChar char="•"/>
            </a:pPr>
            <a:r>
              <a:rPr lang="en-US" dirty="0"/>
              <a:t>Stores are mostly in a few countries, so there’s a good chance to open more stores in new places.</a:t>
            </a:r>
          </a:p>
          <a:p>
            <a:pPr algn="l">
              <a:buFont typeface="Arial" panose="020B0604020202020204" pitchFamily="34" charset="0"/>
              <a:buChar char="•"/>
            </a:pPr>
            <a:r>
              <a:rPr lang="en-US" dirty="0"/>
              <a:t>This report helps us understand what’s working well and what needs improvement, so we can make smarter business decisions.</a:t>
            </a:r>
          </a:p>
        </p:txBody>
      </p:sp>
    </p:spTree>
    <p:extLst>
      <p:ext uri="{BB962C8B-B14F-4D97-AF65-F5344CB8AC3E}">
        <p14:creationId xmlns:p14="http://schemas.microsoft.com/office/powerpoint/2010/main" val="308819489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237</TotalTime>
  <Words>552</Words>
  <Application>Microsoft Office PowerPoint</Application>
  <PresentationFormat>Widescreen</PresentationFormat>
  <Paragraphs>112</Paragraphs>
  <Slides>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Arial Unicode MS</vt:lpstr>
      <vt:lpstr>Calibri</vt:lpstr>
      <vt:lpstr>Calibri Light</vt:lpstr>
      <vt:lpstr>Custom Design</vt:lpstr>
      <vt:lpstr>PowerPoint Presentation</vt:lpstr>
      <vt:lpstr>Why ?Analysis</vt:lpstr>
      <vt:lpstr>How ? Analysis</vt:lpstr>
      <vt:lpstr>Home</vt:lpstr>
      <vt:lpstr>Customer Analysis</vt:lpstr>
      <vt:lpstr>Product Analysis</vt:lpstr>
      <vt:lpstr>Store Analysis</vt:lpstr>
      <vt:lpstr>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Pratham Sonigara</cp:lastModifiedBy>
  <cp:revision>13</cp:revision>
  <dcterms:created xsi:type="dcterms:W3CDTF">2016-09-04T11:54:55Z</dcterms:created>
  <dcterms:modified xsi:type="dcterms:W3CDTF">2025-07-01T04:09:31Z</dcterms:modified>
</cp:coreProperties>
</file>